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4" r:id="rId3"/>
    <p:sldId id="256" r:id="rId4"/>
    <p:sldId id="275" r:id="rId5"/>
    <p:sldId id="276" r:id="rId6"/>
    <p:sldId id="277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59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034D5-9A85-4C65-95B0-45A8FC4BD103}" type="datetimeFigureOut">
              <a:rPr lang="en-US" smtClean="0"/>
              <a:pPr/>
              <a:t>9/6/2020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AA0D-BC7F-4634-A015-638520C3D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17.xml"/><Relationship Id="rId7" Type="http://schemas.openxmlformats.org/officeDocument/2006/relationships/slide" Target="slid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24.xml"/><Relationship Id="rId10" Type="http://schemas.openxmlformats.org/officeDocument/2006/relationships/slide" Target="slide19.xml"/><Relationship Id="rId4" Type="http://schemas.openxmlformats.org/officeDocument/2006/relationships/slide" Target="slide18.xml"/><Relationship Id="rId9" Type="http://schemas.openxmlformats.org/officeDocument/2006/relationships/slide" Target="slide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4.xml"/><Relationship Id="rId18" Type="http://schemas.openxmlformats.org/officeDocument/2006/relationships/slide" Target="slide16.xml"/><Relationship Id="rId3" Type="http://schemas.openxmlformats.org/officeDocument/2006/relationships/image" Target="../media/image2.jpeg"/><Relationship Id="rId7" Type="http://schemas.openxmlformats.org/officeDocument/2006/relationships/slide" Target="slide9.xml"/><Relationship Id="rId12" Type="http://schemas.openxmlformats.org/officeDocument/2006/relationships/slide" Target="slide5.xml"/><Relationship Id="rId17" Type="http://schemas.openxmlformats.org/officeDocument/2006/relationships/slide" Target="slide15.xml"/><Relationship Id="rId2" Type="http://schemas.openxmlformats.org/officeDocument/2006/relationships/hyperlink" Target="http://1.bp.blogspot.com/-ZNe0_TT98uw/ULR8MMTMKJI/AAAAAAAAAxc/veQ7at6Eyl0/s1600/motherboard.jpg" TargetMode="External"/><Relationship Id="rId16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6.xml"/><Relationship Id="rId5" Type="http://schemas.openxmlformats.org/officeDocument/2006/relationships/slide" Target="slide11.xml"/><Relationship Id="rId15" Type="http://schemas.openxmlformats.org/officeDocument/2006/relationships/slide" Target="slide13.xml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slide" Target="slide17.xml"/><Relationship Id="rId1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4.bp.blogspot.com/-dlvzhBRzTdw/ULR_3TgdAkI/AAAAAAAAAyE/Kgt5vz8Ham8/s1600/ProcessorSocket370.jpg" TargetMode="Externa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2.bp.blogspot.com/-JeieKFFcSl4/ULR_9ggg5kI/AAAAAAAAAyM/yjGI58MXQs8/s1600/pcp-2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2.bp.blogspot.com/-5apUIXwVBDE/ULR_vXs9d0I/AAAAAAAAAx8/ymWVtEZf2R8/s1600/intel_skulltrail_part_i___northbridge_heatsink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1B08wGVRb9I/ULR_mS5R-DI/AAAAAAAAAx0/zHoqw-uMYsw/s1600/d50b9d8b_800px-pci_und_pcie_slots2.jpe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fsAW33rp_ow/ULR9C-uaclI/AAAAAAAAAxk/G3S2C7CSaFI/s1600/agp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RYAa8N90Ewo/ULR9wCI0OVI/AAAAAAAAAxs/szFQXoV0TXg/s1600/PCI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Tvqp2MNodRE/ULSAnlij04I/AAAAAAAAAyU/PZt-0FiVpyg/s1600/fazri-bios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7PpHO5NfNPw/ULSAsf7EkgI/AAAAAAAAAyc/u6r0_uIaGwM/s1600/cmos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5HHKhrEisd4/ULSBZF0N9MI/AAAAAAAAAyk/e_jDroRikqg/s1600/portsata5ua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hyperlink" Target="http://ilmucerdas.files.wordpress.com/2011/08/sata_cable.jpg" TargetMode="Externa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2.bp.blogspot.com/-L17GkOeGAL8/ULSBlKhDvgI/AAAAAAAAAys/zQzcdJ2DxL8/s1600/IDE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hyperlink" Target="http://ilmucerdas.files.wordpress.com/2011/08/pata_cable.jpg" TargetMode="Externa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qqWjjdAmIIE/ULSCP_4_OnI/AAAAAAAAAy0/0u3Zy3CvU9A/s1600/backpanel_large.jp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ilmucerdas.files.wordpress.com/2011/08/power_supply.jpg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ilmucerdas.files.wordpress.com/2011/08/motherboard_samping.jpg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ilmucerdas.files.wordpress.com/2011/08/heat_sink.jpg" TargetMode="External"/><Relationship Id="rId7" Type="http://schemas.openxmlformats.org/officeDocument/2006/relationships/image" Target="../media/image21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ilmucerdas.files.wordpress.com/2011/08/ram.jpg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ilmucerdas.files.wordpress.com/2011/08/vga_card.jpg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hyperlink" Target="http://ilmucerdas.files.wordpress.com/2011/08/hard_disk_atas.jpg" TargetMode="External"/><Relationship Id="rId7" Type="http://schemas.openxmlformats.org/officeDocument/2006/relationships/hyperlink" Target="http://ilmucerdas.files.wordpress.com/2011/08/pata_cable.jpg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hyperlink" Target="http://ilmucerdas.files.wordpress.com/2011/08/hard_disk_belakang.jpg" TargetMode="External"/><Relationship Id="rId10" Type="http://schemas.openxmlformats.org/officeDocument/2006/relationships/image" Target="../media/image12.jpeg"/><Relationship Id="rId4" Type="http://schemas.openxmlformats.org/officeDocument/2006/relationships/image" Target="../media/image24.jpeg"/><Relationship Id="rId9" Type="http://schemas.openxmlformats.org/officeDocument/2006/relationships/hyperlink" Target="http://ilmucerdas.files.wordpress.com/2011/08/sata_cable.jp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ilmucerdas.files.wordpress.com/2011/08/opticaldrive_depan.jpg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hyperlink" Target="http://ilmucerdas.files.wordpress.com/2011/08/optical_drive_belakang.jpg" TargetMode="Externa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6" name="Picture 4" descr="http://delllovers.com/wp-content/uploads/2012/10/Komponen-Komputer-550x36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  <p:sp>
        <p:nvSpPr>
          <p:cNvPr id="6" name="Oval 5">
            <a:hlinkClick r:id="rId3" action="ppaction://hlinksldjump"/>
          </p:cNvPr>
          <p:cNvSpPr/>
          <p:nvPr/>
        </p:nvSpPr>
        <p:spPr>
          <a:xfrm>
            <a:off x="990600" y="29718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hlinkClick r:id="rId4" action="ppaction://hlinksldjump"/>
          </p:cNvPr>
          <p:cNvSpPr/>
          <p:nvPr/>
        </p:nvSpPr>
        <p:spPr>
          <a:xfrm>
            <a:off x="2895600" y="28956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2</a:t>
            </a:r>
            <a:endParaRPr lang="en-US" dirty="0"/>
          </a:p>
        </p:txBody>
      </p:sp>
      <p:sp>
        <p:nvSpPr>
          <p:cNvPr id="8" name="Oval 7">
            <a:hlinkClick r:id="rId5" action="ppaction://hlinksldjump"/>
          </p:cNvPr>
          <p:cNvSpPr/>
          <p:nvPr/>
        </p:nvSpPr>
        <p:spPr>
          <a:xfrm>
            <a:off x="7924800" y="60198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9" name="Oval 8">
            <a:hlinkClick r:id="rId6" action="ppaction://hlinksldjump"/>
          </p:cNvPr>
          <p:cNvSpPr/>
          <p:nvPr/>
        </p:nvSpPr>
        <p:spPr>
          <a:xfrm>
            <a:off x="5029200" y="60198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0" name="Oval 9">
            <a:hlinkClick r:id="rId7" action="ppaction://hlinksldjump"/>
          </p:cNvPr>
          <p:cNvSpPr/>
          <p:nvPr/>
        </p:nvSpPr>
        <p:spPr>
          <a:xfrm>
            <a:off x="2819400" y="62484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Oval 10">
            <a:hlinkClick r:id="rId8" action="ppaction://hlinksldjump"/>
          </p:cNvPr>
          <p:cNvSpPr/>
          <p:nvPr/>
        </p:nvSpPr>
        <p:spPr>
          <a:xfrm>
            <a:off x="1219200" y="61722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>
            <a:hlinkClick r:id="rId9" action="ppaction://hlinksldjump"/>
          </p:cNvPr>
          <p:cNvSpPr/>
          <p:nvPr/>
        </p:nvSpPr>
        <p:spPr>
          <a:xfrm>
            <a:off x="7086600" y="28194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Oval 12">
            <a:hlinkClick r:id="rId10" action="ppaction://hlinksldjump"/>
          </p:cNvPr>
          <p:cNvSpPr/>
          <p:nvPr/>
        </p:nvSpPr>
        <p:spPr>
          <a:xfrm>
            <a:off x="4953000" y="27432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Komponen</a:t>
            </a:r>
            <a:r>
              <a:rPr lang="en-US" dirty="0" smtClean="0"/>
              <a:t> Motherboard (MOBO)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://1.bp.blogspot.com/-ZNe0_TT98uw/ULR8MMTMKJI/AAAAAAAAAxc/veQ7at6Eyl0/s640/motherboard.jpg">
            <a:hlinkClick r:id="rId2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371600"/>
            <a:ext cx="8458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>
            <a:hlinkClick r:id="rId4" action="ppaction://hlinksldjump"/>
          </p:cNvPr>
          <p:cNvSpPr/>
          <p:nvPr/>
        </p:nvSpPr>
        <p:spPr>
          <a:xfrm>
            <a:off x="7162800" y="38862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hlinkClick r:id="rId5" action="ppaction://hlinksldjump"/>
          </p:cNvPr>
          <p:cNvSpPr/>
          <p:nvPr/>
        </p:nvSpPr>
        <p:spPr>
          <a:xfrm>
            <a:off x="3048000" y="5410200"/>
            <a:ext cx="457200" cy="4572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10</a:t>
            </a:r>
            <a:endParaRPr lang="en-US" sz="1050" dirty="0"/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1143000" y="44196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2" name="Oval 11">
            <a:hlinkClick r:id="rId7" action="ppaction://hlinksldjump"/>
          </p:cNvPr>
          <p:cNvSpPr/>
          <p:nvPr/>
        </p:nvSpPr>
        <p:spPr>
          <a:xfrm>
            <a:off x="1143000" y="27432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3" name="Oval 12">
            <a:hlinkClick r:id="rId8" action="ppaction://hlinksldjump"/>
          </p:cNvPr>
          <p:cNvSpPr/>
          <p:nvPr/>
        </p:nvSpPr>
        <p:spPr>
          <a:xfrm>
            <a:off x="1981200" y="33528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4" name="Oval 13">
            <a:hlinkClick r:id="rId9" action="ppaction://hlinksldjump"/>
          </p:cNvPr>
          <p:cNvSpPr/>
          <p:nvPr/>
        </p:nvSpPr>
        <p:spPr>
          <a:xfrm>
            <a:off x="2819400" y="25146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5" name="Oval 14">
            <a:hlinkClick r:id="rId10" action="ppaction://hlinksldjump"/>
          </p:cNvPr>
          <p:cNvSpPr/>
          <p:nvPr/>
        </p:nvSpPr>
        <p:spPr>
          <a:xfrm>
            <a:off x="3657600" y="32766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6" name="Oval 15">
            <a:hlinkClick r:id="rId11" action="ppaction://hlinksldjump"/>
          </p:cNvPr>
          <p:cNvSpPr/>
          <p:nvPr/>
        </p:nvSpPr>
        <p:spPr>
          <a:xfrm>
            <a:off x="2895600" y="46482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7" name="Oval 16">
            <a:hlinkClick r:id="rId12" action="ppaction://hlinksldjump"/>
          </p:cNvPr>
          <p:cNvSpPr/>
          <p:nvPr/>
        </p:nvSpPr>
        <p:spPr>
          <a:xfrm>
            <a:off x="4953000" y="38862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8" name="Oval 17">
            <a:hlinkClick r:id="rId13" action="ppaction://hlinksldjump"/>
          </p:cNvPr>
          <p:cNvSpPr/>
          <p:nvPr/>
        </p:nvSpPr>
        <p:spPr>
          <a:xfrm>
            <a:off x="6096000" y="5334000"/>
            <a:ext cx="381000" cy="381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9" name="Oval 18">
            <a:hlinkClick r:id="rId14" action="ppaction://hlinksldjump"/>
          </p:cNvPr>
          <p:cNvSpPr/>
          <p:nvPr/>
        </p:nvSpPr>
        <p:spPr>
          <a:xfrm>
            <a:off x="1905000" y="5486400"/>
            <a:ext cx="457200" cy="4572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11</a:t>
            </a:r>
            <a:endParaRPr lang="en-US" sz="1050" dirty="0"/>
          </a:p>
        </p:txBody>
      </p:sp>
      <p:sp>
        <p:nvSpPr>
          <p:cNvPr id="20" name="Oval 19">
            <a:hlinkClick r:id="rId15" action="ppaction://hlinksldjump"/>
          </p:cNvPr>
          <p:cNvSpPr/>
          <p:nvPr/>
        </p:nvSpPr>
        <p:spPr>
          <a:xfrm>
            <a:off x="3200400" y="6172200"/>
            <a:ext cx="457200" cy="4572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12</a:t>
            </a:r>
            <a:endParaRPr lang="en-US" sz="1050" dirty="0"/>
          </a:p>
        </p:txBody>
      </p:sp>
      <p:sp>
        <p:nvSpPr>
          <p:cNvPr id="21" name="Oval 20">
            <a:hlinkClick r:id="rId16" action="ppaction://hlinksldjump"/>
          </p:cNvPr>
          <p:cNvSpPr/>
          <p:nvPr/>
        </p:nvSpPr>
        <p:spPr>
          <a:xfrm>
            <a:off x="609600" y="5562600"/>
            <a:ext cx="457200" cy="4572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13</a:t>
            </a:r>
            <a:endParaRPr lang="en-US" sz="1050" dirty="0"/>
          </a:p>
        </p:txBody>
      </p:sp>
      <p:sp>
        <p:nvSpPr>
          <p:cNvPr id="22" name="Oval 21">
            <a:hlinkClick r:id="rId17" action="ppaction://hlinksldjump"/>
          </p:cNvPr>
          <p:cNvSpPr/>
          <p:nvPr/>
        </p:nvSpPr>
        <p:spPr>
          <a:xfrm>
            <a:off x="5334000" y="6096000"/>
            <a:ext cx="457200" cy="4572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14</a:t>
            </a:r>
            <a:endParaRPr lang="en-US" sz="1050" dirty="0"/>
          </a:p>
        </p:txBody>
      </p:sp>
      <p:sp>
        <p:nvSpPr>
          <p:cNvPr id="23" name="Oval 22">
            <a:hlinkClick r:id="rId18" action="ppaction://hlinksldjump"/>
          </p:cNvPr>
          <p:cNvSpPr/>
          <p:nvPr/>
        </p:nvSpPr>
        <p:spPr>
          <a:xfrm>
            <a:off x="5867400" y="1371600"/>
            <a:ext cx="457200" cy="4572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15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1524000"/>
            <a:ext cx="78486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1. 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Soket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Prosesor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Soket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ini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tempat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dimana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prosesor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dipasang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Jenis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soket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menentukan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prosesor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apa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yang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bisa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dipasang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pada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soket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tersebut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Jadi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soket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tertentu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hanya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bisa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dipasang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prosesor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tertentu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saja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1505" name="Picture 2" descr="http://4.bp.blogspot.com/-dlvzhBRzTdw/ULR_3TgdAkI/AAAAAAAAAyE/Kgt5vz8Ham8/s200/ProcessorSocket370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00445" y="228600"/>
            <a:ext cx="2730867" cy="2362200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4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1524000"/>
            <a:ext cx="78486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3600" dirty="0"/>
              <a:t>2. Slot </a:t>
            </a:r>
            <a:r>
              <a:rPr lang="en-US" sz="3600" dirty="0" err="1"/>
              <a:t>Memori</a:t>
            </a:r>
            <a:r>
              <a:rPr lang="en-US" sz="3600" dirty="0"/>
              <a:t>. Slot </a:t>
            </a:r>
            <a:r>
              <a:rPr lang="en-US" sz="3600" dirty="0" err="1"/>
              <a:t>ini</a:t>
            </a:r>
            <a:r>
              <a:rPr lang="en-US" sz="3600" dirty="0"/>
              <a:t>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memasang</a:t>
            </a:r>
            <a:r>
              <a:rPr lang="en-US" sz="3600" dirty="0"/>
              <a:t> </a:t>
            </a:r>
            <a:r>
              <a:rPr lang="en-US" sz="3600" dirty="0" err="1"/>
              <a:t>memori</a:t>
            </a:r>
            <a:r>
              <a:rPr lang="en-US" sz="3600" dirty="0"/>
              <a:t> </a:t>
            </a:r>
            <a:r>
              <a:rPr lang="en-US" sz="3600" dirty="0" err="1"/>
              <a:t>utama</a:t>
            </a:r>
            <a:r>
              <a:rPr lang="en-US" sz="3600" dirty="0"/>
              <a:t> </a:t>
            </a:r>
            <a:r>
              <a:rPr lang="en-US" sz="3600" dirty="0" err="1"/>
              <a:t>komputer</a:t>
            </a:r>
            <a:r>
              <a:rPr lang="en-US" sz="3600" dirty="0"/>
              <a:t>. </a:t>
            </a:r>
            <a:r>
              <a:rPr lang="en-US" sz="3600" dirty="0" err="1"/>
              <a:t>Jenis</a:t>
            </a:r>
            <a:r>
              <a:rPr lang="en-US" sz="3600" dirty="0"/>
              <a:t> slot </a:t>
            </a:r>
            <a:r>
              <a:rPr lang="en-US" sz="3600" dirty="0" err="1"/>
              <a:t>memori</a:t>
            </a:r>
            <a:r>
              <a:rPr lang="en-US" sz="3600" dirty="0"/>
              <a:t> </a:t>
            </a:r>
            <a:r>
              <a:rPr lang="en-US" sz="3600" dirty="0" err="1"/>
              <a:t>juga</a:t>
            </a:r>
            <a:r>
              <a:rPr lang="en-US" sz="3600" dirty="0"/>
              <a:t> </a:t>
            </a:r>
            <a:r>
              <a:rPr lang="en-US" sz="3600" dirty="0" err="1"/>
              <a:t>berbeda-beda</a:t>
            </a:r>
            <a:r>
              <a:rPr lang="en-US" sz="3600" dirty="0"/>
              <a:t>, </a:t>
            </a:r>
            <a:r>
              <a:rPr lang="en-US" sz="3600" dirty="0" err="1"/>
              <a:t>tergantung</a:t>
            </a:r>
            <a:r>
              <a:rPr lang="en-US" sz="3600" dirty="0"/>
              <a:t> </a:t>
            </a:r>
            <a:r>
              <a:rPr lang="en-US" sz="3600" dirty="0" err="1"/>
              <a:t>sistem</a:t>
            </a:r>
            <a:r>
              <a:rPr lang="en-US" sz="3600" dirty="0"/>
              <a:t> yang </a:t>
            </a:r>
            <a:r>
              <a:rPr lang="en-US" sz="3600" dirty="0" err="1"/>
              <a:t>digunakannya</a:t>
            </a:r>
            <a:r>
              <a:rPr lang="en-US" sz="3600" dirty="0"/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2.bp.blogspot.com/-JeieKFFcSl4/ULR_9ggg5kI/AAAAAAAAAyM/yjGI58MXQs8/s200/pcp-2.jpg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457200"/>
            <a:ext cx="6477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838200" y="2667000"/>
            <a:ext cx="69342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3. Northbridge,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sebutan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bagi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komponen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utama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yang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mengatur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lalu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lintas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data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antara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prosesor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sistem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memori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saluran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utama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motherboard.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6081" name="Picture 4" descr="http://2.bp.blogspot.com/-5apUIXwVBDE/ULR_vXs9d0I/AAAAAAAAAx8/ymWVtEZf2R8/s200/intel_skulltrail_part_i___northbridge_heatsink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228600"/>
            <a:ext cx="5105400" cy="2384298"/>
          </a:xfrm>
          <a:prstGeom prst="rect">
            <a:avLst/>
          </a:prstGeom>
          <a:noFill/>
        </p:spPr>
      </p:pic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1524000"/>
            <a:ext cx="78486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/>
              <a:t>4. Southbridge, </a:t>
            </a:r>
            <a:r>
              <a:rPr lang="en-US" sz="3600" dirty="0" err="1"/>
              <a:t>sebutan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komponen</a:t>
            </a:r>
            <a:r>
              <a:rPr lang="en-US" sz="3600" dirty="0"/>
              <a:t> </a:t>
            </a:r>
            <a:r>
              <a:rPr lang="en-US" sz="3600" dirty="0" err="1"/>
              <a:t>pembantu</a:t>
            </a:r>
            <a:r>
              <a:rPr lang="en-US" sz="3600" dirty="0"/>
              <a:t> </a:t>
            </a:r>
            <a:r>
              <a:rPr lang="en-US" sz="3600" dirty="0" err="1"/>
              <a:t>northbridge</a:t>
            </a:r>
            <a:r>
              <a:rPr lang="en-US" sz="3600" dirty="0"/>
              <a:t> yang </a:t>
            </a:r>
            <a:r>
              <a:rPr lang="en-US" sz="3600" dirty="0" err="1"/>
              <a:t>menghubungkan</a:t>
            </a:r>
            <a:r>
              <a:rPr lang="en-US" sz="3600" dirty="0"/>
              <a:t> </a:t>
            </a:r>
            <a:r>
              <a:rPr lang="en-US" sz="3600" dirty="0" err="1"/>
              <a:t>northbridge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komponen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periferal</a:t>
            </a:r>
            <a:r>
              <a:rPr lang="en-US" sz="3600" dirty="0"/>
              <a:t> </a:t>
            </a:r>
            <a:r>
              <a:rPr lang="en-US" sz="3600" dirty="0" err="1"/>
              <a:t>lainnya</a:t>
            </a:r>
            <a:r>
              <a:rPr lang="en-US" sz="3600" dirty="0"/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1524000"/>
            <a:ext cx="7848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endParaRPr lang="en-US" sz="3600" dirty="0" smtClean="0"/>
          </a:p>
          <a:p>
            <a:r>
              <a:rPr lang="en-US" sz="3200" dirty="0" smtClean="0"/>
              <a:t>5. Slot PCI Express x16, </a:t>
            </a:r>
            <a:r>
              <a:rPr lang="en-US" sz="3200" dirty="0" err="1" smtClean="0"/>
              <a:t>merupakan</a:t>
            </a:r>
            <a:r>
              <a:rPr lang="en-US" sz="3200" dirty="0" smtClean="0"/>
              <a:t> slot </a:t>
            </a:r>
            <a:r>
              <a:rPr lang="en-US" sz="3200" dirty="0" err="1" smtClean="0"/>
              <a:t>khusus</a:t>
            </a:r>
            <a:r>
              <a:rPr lang="en-US" sz="3200" dirty="0" smtClean="0"/>
              <a:t> yang </a:t>
            </a:r>
            <a:r>
              <a:rPr lang="en-US" sz="3200" dirty="0" err="1" smtClean="0"/>
              <a:t>bisa</a:t>
            </a:r>
            <a:r>
              <a:rPr lang="en-US" sz="3200" dirty="0" smtClean="0"/>
              <a:t> </a:t>
            </a:r>
            <a:r>
              <a:rPr lang="en-US" sz="3200" dirty="0" err="1" smtClean="0"/>
              <a:t>dipasangi</a:t>
            </a:r>
            <a:r>
              <a:rPr lang="en-US" sz="3200" dirty="0" smtClean="0"/>
              <a:t> </a:t>
            </a:r>
            <a:r>
              <a:rPr lang="en-US" sz="3200" dirty="0" err="1" smtClean="0"/>
              <a:t>kartu</a:t>
            </a:r>
            <a:r>
              <a:rPr lang="en-US" sz="3200" dirty="0" smtClean="0"/>
              <a:t> VGA </a:t>
            </a:r>
            <a:r>
              <a:rPr lang="en-US" sz="3200" dirty="0" err="1" smtClean="0"/>
              <a:t>generasi</a:t>
            </a:r>
            <a:r>
              <a:rPr lang="en-US" sz="3200" dirty="0" smtClean="0"/>
              <a:t> </a:t>
            </a:r>
            <a:r>
              <a:rPr lang="en-US" sz="3200" dirty="0" err="1" smtClean="0"/>
              <a:t>terbaru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en-US" sz="3200" dirty="0" smtClean="0"/>
              <a:t>6</a:t>
            </a:r>
            <a:r>
              <a:rPr lang="en-US" sz="3200" dirty="0"/>
              <a:t>. Slot PCI Express x1, </a:t>
            </a:r>
            <a:r>
              <a:rPr lang="en-US" sz="3200" dirty="0" err="1"/>
              <a:t>merupakan</a:t>
            </a:r>
            <a:r>
              <a:rPr lang="en-US" sz="3200" dirty="0"/>
              <a:t> slot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memasang</a:t>
            </a:r>
            <a:r>
              <a:rPr lang="en-US" sz="3200" dirty="0"/>
              <a:t> </a:t>
            </a:r>
            <a:r>
              <a:rPr lang="en-US" sz="3200" dirty="0" err="1"/>
              <a:t>periferal</a:t>
            </a:r>
            <a:r>
              <a:rPr lang="en-US" sz="3200" dirty="0"/>
              <a:t> (</a:t>
            </a:r>
            <a:r>
              <a:rPr lang="en-US" sz="3200" dirty="0" err="1"/>
              <a:t>kartu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card) </a:t>
            </a:r>
            <a:r>
              <a:rPr lang="en-US" sz="3200" dirty="0" err="1"/>
              <a:t>lainnya</a:t>
            </a:r>
            <a:r>
              <a:rPr lang="en-US" sz="3200" dirty="0"/>
              <a:t> </a:t>
            </a:r>
            <a:r>
              <a:rPr lang="en-US" sz="3200" dirty="0" err="1"/>
              <a:t>selain</a:t>
            </a:r>
            <a:r>
              <a:rPr lang="en-US" sz="3200" dirty="0"/>
              <a:t> </a:t>
            </a:r>
            <a:r>
              <a:rPr lang="en-US" sz="3200" dirty="0" err="1"/>
              <a:t>kartu</a:t>
            </a:r>
            <a:r>
              <a:rPr lang="en-US" sz="3200" dirty="0"/>
              <a:t> VGA.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4.bp.blogspot.com/-1B08wGVRb9I/ULR_mS5R-DI/AAAAAAAAAx0/zHoqw-uMYsw/s320/d50b9d8b_800px-pci_und_pcie_slots2.jpeg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304800"/>
            <a:ext cx="6629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6019800" y="1371600"/>
            <a:ext cx="31242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7. Slot AGP,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slot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khusus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memasang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kartu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VGA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generasi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sebelum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adanya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slot PCI Express.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1985" name="Picture 6" descr="http://3.bp.blogspot.com/-fsAW33rp_ow/ULR9C-uaclI/AAAAAAAAAxk/G3S2C7CSaFI/s200/agp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1295400"/>
            <a:ext cx="4807248" cy="4800600"/>
          </a:xfrm>
          <a:prstGeom prst="rect">
            <a:avLst/>
          </a:prstGeom>
          <a:noFill/>
        </p:spPr>
      </p:pic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1876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2514600"/>
            <a:ext cx="78486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8. Slot PCI,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slot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umum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yang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biasa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digunakan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memasang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kartu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card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kecepatan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bawah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slot AGP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PCI Express.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0961" name="Picture 7" descr="http://3.bp.blogspot.com/-RYAa8N90Ewo/ULR9wCI0OVI/AAAAAAAAAxs/szFQXoV0TXg/s200/PCI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533399"/>
            <a:ext cx="4648200" cy="2930387"/>
          </a:xfrm>
          <a:prstGeom prst="rect">
            <a:avLst/>
          </a:prstGeom>
          <a:noFill/>
        </p:spPr>
      </p:pic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4419600" y="1371600"/>
            <a:ext cx="4495800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smtClean="0"/>
              <a:t>9</a:t>
            </a:r>
            <a:r>
              <a:rPr lang="en-US" sz="3600" dirty="0"/>
              <a:t>. BIOS (Basic Input-</a:t>
            </a:r>
            <a:r>
              <a:rPr lang="en-US" sz="3600" dirty="0" err="1"/>
              <a:t>Ouput</a:t>
            </a:r>
            <a:r>
              <a:rPr lang="en-US" sz="3600" dirty="0"/>
              <a:t> System). </a:t>
            </a:r>
            <a:r>
              <a:rPr lang="en-US" sz="3600" dirty="0" err="1"/>
              <a:t>Merupakan</a:t>
            </a:r>
            <a:r>
              <a:rPr lang="en-US" sz="3600" dirty="0"/>
              <a:t> program </a:t>
            </a:r>
            <a:r>
              <a:rPr lang="en-US" sz="3600" dirty="0" err="1"/>
              <a:t>kecil</a:t>
            </a:r>
            <a:r>
              <a:rPr lang="en-US" sz="3600" dirty="0"/>
              <a:t> yang </a:t>
            </a:r>
            <a:r>
              <a:rPr lang="en-US" sz="3600" dirty="0" err="1"/>
              <a:t>dimasukkan</a:t>
            </a:r>
            <a:r>
              <a:rPr lang="en-US" sz="3600" dirty="0"/>
              <a:t> </a:t>
            </a:r>
            <a:r>
              <a:rPr lang="en-US" sz="3600" dirty="0" err="1"/>
              <a:t>ke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IC ROM </a:t>
            </a:r>
            <a:r>
              <a:rPr lang="en-US" sz="3600" dirty="0" err="1"/>
              <a:t>atau</a:t>
            </a:r>
            <a:r>
              <a:rPr lang="en-US" sz="3600" dirty="0"/>
              <a:t> Flash yang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menyimpan</a:t>
            </a:r>
            <a:r>
              <a:rPr lang="en-US" sz="3600" dirty="0"/>
              <a:t> </a:t>
            </a:r>
            <a:r>
              <a:rPr lang="en-US" sz="3600" dirty="0" err="1"/>
              <a:t>konfigurasi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motherboard.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25199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x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9937" name="Picture 8" descr="http://4.bp.blogspot.com/-Tvqp2MNodRE/ULSAnlij04I/AAAAAAAAAyU/PZt-0FiVpyg/s200/fazri-bios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600200"/>
            <a:ext cx="4166331" cy="3581400"/>
          </a:xfrm>
          <a:prstGeom prst="rect">
            <a:avLst/>
          </a:prstGeom>
          <a:noFill/>
        </p:spPr>
      </p:pic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1781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838200" y="3276600"/>
            <a:ext cx="7848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10.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Baterai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CMOS,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baterai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khusus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memberikan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daya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pada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BIOS.</a:t>
            </a: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0"/>
            <a:ext cx="184731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8913" name="Picture 9" descr="http://4.bp.blogspot.com/-7PpHO5NfNPw/ULSAsf7EkgI/AAAAAAAAAyc/u6r0_uIaGwM/s320/cmos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304800"/>
            <a:ext cx="4699000" cy="2819400"/>
          </a:xfrm>
          <a:prstGeom prst="rect">
            <a:avLst/>
          </a:prstGeom>
          <a:noFill/>
        </p:spPr>
      </p:pic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2149019"/>
            <a:ext cx="7848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11. Port SATA,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antarmuka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media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penyimpanan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generasi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terbaru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Port SATA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bisa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digunakan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menghubungkan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Hard Disk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sistem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komputer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7889" name="Picture 10" descr="http://3.bp.blogspot.com/-5HHKhrEisd4/ULSBZF0N9MI/AAAAAAAAAyk/e_jDroRikqg/s200/portsata5ua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381000"/>
            <a:ext cx="3200400" cy="2896362"/>
          </a:xfrm>
          <a:prstGeom prst="rect">
            <a:avLst/>
          </a:prstGeom>
          <a:noFill/>
        </p:spPr>
      </p:pic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0" y="2181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9" name="Picture 8" descr="http://ilmucerdas.files.wordpress.com/2011/08/sata_cable.jpg?w=235&amp;h=140">
            <a:hlinkClick r:id="rId5"/>
          </p:cNvPr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533400"/>
            <a:ext cx="3352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3048000"/>
            <a:ext cx="78486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12. Port IDE,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antarmuka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media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penyimpanan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sebelum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generasi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SATA.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6865" name="Picture 11" descr="http://2.bp.blogspot.com/-L17GkOeGAL8/ULSBlKhDvgI/AAAAAAAAAys/zQzcdJ2DxL8/s200/IDE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1143000"/>
            <a:ext cx="3657600" cy="2487168"/>
          </a:xfrm>
          <a:prstGeom prst="rect">
            <a:avLst/>
          </a:prstGeom>
          <a:noFill/>
        </p:spPr>
      </p:pic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9" name="Picture 8" descr="http://ilmucerdas.files.wordpress.com/2011/08/pata_cable.jpg?w=300&amp;h=180">
            <a:hlinkClick r:id="rId5"/>
          </p:cNvPr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05400" y="1371600"/>
            <a:ext cx="3581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1524000"/>
            <a:ext cx="78486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3600" dirty="0"/>
              <a:t>13. Port Floppy Disk,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menghubungkan</a:t>
            </a:r>
            <a:r>
              <a:rPr lang="en-US" sz="3600" dirty="0"/>
              <a:t> </a:t>
            </a:r>
            <a:r>
              <a:rPr lang="en-US" sz="3600" dirty="0" err="1"/>
              <a:t>media</a:t>
            </a:r>
            <a:r>
              <a:rPr lang="en-US" sz="3600" i="1" dirty="0" err="1"/>
              <a:t>removable</a:t>
            </a:r>
            <a:r>
              <a:rPr lang="en-US" sz="3600" dirty="0"/>
              <a:t> </a:t>
            </a:r>
            <a:r>
              <a:rPr lang="en-US" sz="3600" dirty="0" err="1"/>
              <a:t>atau</a:t>
            </a:r>
            <a:r>
              <a:rPr lang="en-US" sz="3600" dirty="0"/>
              <a:t> media </a:t>
            </a:r>
            <a:r>
              <a:rPr lang="en-US" sz="3600" dirty="0" err="1"/>
              <a:t>penyimpanan</a:t>
            </a:r>
            <a:r>
              <a:rPr lang="en-US" sz="3600" dirty="0"/>
              <a:t> yang </a:t>
            </a:r>
            <a:r>
              <a:rPr lang="en-US" sz="3600" dirty="0" err="1"/>
              <a:t>bisa</a:t>
            </a:r>
            <a:r>
              <a:rPr lang="en-US" sz="3600" dirty="0"/>
              <a:t> </a:t>
            </a:r>
            <a:r>
              <a:rPr lang="en-US" sz="3600" dirty="0" err="1"/>
              <a:t>dicopot</a:t>
            </a:r>
            <a:r>
              <a:rPr lang="en-US" sz="3600" dirty="0"/>
              <a:t> </a:t>
            </a:r>
            <a:r>
              <a:rPr lang="en-US" sz="3600" dirty="0" err="1"/>
              <a:t>yaitu</a:t>
            </a:r>
            <a:r>
              <a:rPr lang="en-US" sz="3600" dirty="0"/>
              <a:t> </a:t>
            </a:r>
            <a:r>
              <a:rPr lang="en-US" sz="3600" dirty="0" err="1"/>
              <a:t>Disket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Floppy Disk.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14400" y="1524000"/>
            <a:ext cx="78486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3600" dirty="0"/>
              <a:t>14. Port Power, </a:t>
            </a:r>
            <a:r>
              <a:rPr lang="en-US" sz="3600" dirty="0" err="1"/>
              <a:t>yaitu</a:t>
            </a:r>
            <a:r>
              <a:rPr lang="en-US" sz="3600" dirty="0"/>
              <a:t> port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memberikan</a:t>
            </a:r>
            <a:r>
              <a:rPr lang="en-US" sz="3600" dirty="0"/>
              <a:t> </a:t>
            </a:r>
            <a:r>
              <a:rPr lang="en-US" sz="3600" dirty="0" err="1"/>
              <a:t>daya</a:t>
            </a:r>
            <a:r>
              <a:rPr lang="en-US" sz="3600" dirty="0"/>
              <a:t> </a:t>
            </a:r>
            <a:r>
              <a:rPr lang="en-US" sz="3600" dirty="0" err="1"/>
              <a:t>kepada</a:t>
            </a:r>
            <a:r>
              <a:rPr lang="en-US" sz="3600" dirty="0"/>
              <a:t> </a:t>
            </a:r>
            <a:r>
              <a:rPr lang="en-US" sz="3600" dirty="0" err="1"/>
              <a:t>sistem</a:t>
            </a:r>
            <a:r>
              <a:rPr lang="en-US" sz="3600" dirty="0"/>
              <a:t> </a:t>
            </a:r>
            <a:r>
              <a:rPr lang="en-US" sz="3600" dirty="0" err="1"/>
              <a:t>komputer</a:t>
            </a:r>
            <a:r>
              <a:rPr lang="en-US" sz="3600" dirty="0"/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838200" y="2209800"/>
            <a:ext cx="78486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6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15. Back Panel,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merupakan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kumpulan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port yang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biasanya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diletakkan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di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belakang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casing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wadah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komputer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PC.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793" name="Picture 12" descr="http://3.bp.blogspot.com/-qqWjjdAmIIE/ULSCP_4_OnI/AAAAAAAAAy0/0u3Zy3CvU9A/s320/backpanel_large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1295400"/>
            <a:ext cx="6400800" cy="1760220"/>
          </a:xfrm>
          <a:prstGeom prst="rect">
            <a:avLst/>
          </a:prstGeom>
          <a:noFill/>
        </p:spPr>
      </p:pic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1295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Cashing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0"/>
            <a:ext cx="80010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Cashing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komputer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adalah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sebuah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komponen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komputer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berfungsi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sebagai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tempat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kita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meletakkan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menempelkan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motherboard, power supply, optical disc drive, hard disk,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lain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sebagainya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Jenis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Cashing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Tower, mini tower, Desktop</a:t>
            </a: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 smtClean="0"/>
              <a:t>Power Supply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1524000"/>
            <a:ext cx="74676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algn="just"/>
            <a:r>
              <a:rPr lang="en-US" sz="3200" dirty="0" err="1" smtClean="0"/>
              <a:t>Ibarat</a:t>
            </a:r>
            <a:r>
              <a:rPr lang="en-US" sz="3200" dirty="0" smtClean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mobil</a:t>
            </a:r>
            <a:r>
              <a:rPr lang="en-US" sz="3200" dirty="0"/>
              <a:t> yang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berjalan</a:t>
            </a:r>
            <a:r>
              <a:rPr lang="en-US" sz="3200" dirty="0"/>
              <a:t> </a:t>
            </a:r>
            <a:r>
              <a:rPr lang="en-US" sz="3200" dirty="0" err="1"/>
              <a:t>jika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bahan</a:t>
            </a:r>
            <a:r>
              <a:rPr lang="en-US" sz="3200" dirty="0"/>
              <a:t> </a:t>
            </a:r>
            <a:r>
              <a:rPr lang="en-US" sz="3200" dirty="0" err="1"/>
              <a:t>bakar</a:t>
            </a:r>
            <a:r>
              <a:rPr lang="en-US" sz="3200" dirty="0"/>
              <a:t>, 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pun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nyala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berfungsi</a:t>
            </a:r>
            <a:r>
              <a:rPr lang="en-US" sz="3200" dirty="0"/>
              <a:t> </a:t>
            </a:r>
            <a:r>
              <a:rPr lang="en-US" sz="3200" dirty="0" err="1"/>
              <a:t>jika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memiliki</a:t>
            </a:r>
            <a:r>
              <a:rPr lang="en-US" sz="3200" dirty="0"/>
              <a:t> power supply </a:t>
            </a:r>
            <a:r>
              <a:rPr lang="en-US" sz="3200" dirty="0" err="1"/>
              <a:t>atau</a:t>
            </a:r>
            <a:r>
              <a:rPr lang="en-US" sz="3200" dirty="0"/>
              <a:t> PSU (Power Supply Unit) </a:t>
            </a:r>
            <a:r>
              <a:rPr lang="en-US" sz="3200" dirty="0" err="1"/>
              <a:t>ini</a:t>
            </a:r>
            <a:r>
              <a:rPr lang="en-US" sz="3200" dirty="0"/>
              <a:t>. Power supply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yang </a:t>
            </a:r>
            <a:r>
              <a:rPr lang="en-US" sz="3200" dirty="0" err="1"/>
              <a:t>berfungsi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mensuplai</a:t>
            </a:r>
            <a:r>
              <a:rPr lang="en-US" sz="3200" dirty="0"/>
              <a:t> </a:t>
            </a:r>
            <a:r>
              <a:rPr lang="en-US" sz="3200" dirty="0" err="1"/>
              <a:t>arus</a:t>
            </a:r>
            <a:r>
              <a:rPr lang="en-US" sz="3200" dirty="0"/>
              <a:t> </a:t>
            </a:r>
            <a:r>
              <a:rPr lang="en-US" sz="3200" dirty="0" err="1"/>
              <a:t>listrik</a:t>
            </a:r>
            <a:r>
              <a:rPr lang="en-US" sz="3200" dirty="0"/>
              <a:t> </a:t>
            </a:r>
            <a:r>
              <a:rPr lang="en-US" sz="3200" dirty="0" err="1"/>
              <a:t>ke</a:t>
            </a:r>
            <a:r>
              <a:rPr lang="en-US" sz="3200" dirty="0"/>
              <a:t> </a:t>
            </a:r>
            <a:r>
              <a:rPr lang="en-US" sz="3200" dirty="0" err="1"/>
              <a:t>komponen-komponen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lainnya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motherboard, hard disk, optical disk drive, </a:t>
            </a:r>
            <a:r>
              <a:rPr lang="en-US" sz="3200" dirty="0" err="1"/>
              <a:t>dan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 </a:t>
            </a:r>
          </a:p>
          <a:p>
            <a:pPr algn="just"/>
            <a:r>
              <a:rPr lang="en-US" sz="3200" dirty="0"/>
              <a:t/>
            </a:r>
            <a:br>
              <a:rPr lang="en-US" sz="3200" dirty="0"/>
            </a:b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power_supply.jpg?w=300&amp;h=179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4267200"/>
            <a:ext cx="7162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Motherboard / </a:t>
            </a:r>
            <a:r>
              <a:rPr lang="en-US" b="1" dirty="0" err="1" smtClean="0"/>
              <a:t>Mainboard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1"/>
            <a:ext cx="8001000" cy="2971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algn="just"/>
            <a:r>
              <a:rPr lang="en-US" sz="3200" dirty="0" smtClean="0"/>
              <a:t>Motherboard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tempat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menancapkan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memasangkan</a:t>
            </a:r>
            <a:r>
              <a:rPr lang="en-US" sz="3200" dirty="0"/>
              <a:t> </a:t>
            </a:r>
            <a:r>
              <a:rPr lang="en-US" sz="3200" dirty="0" err="1"/>
              <a:t>komponen-komponen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lainnya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processor, video card, sound card, hard disk, </a:t>
            </a:r>
            <a:r>
              <a:rPr lang="en-US" sz="3200" dirty="0" err="1"/>
              <a:t>dan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 Motherboard </a:t>
            </a:r>
            <a:r>
              <a:rPr lang="en-US" sz="3200" dirty="0" err="1"/>
              <a:t>berfungsi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menghubungkan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</a:t>
            </a:r>
            <a:r>
              <a:rPr lang="en-US" sz="3200" dirty="0" err="1"/>
              <a:t>komponen-komponen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 agar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saling</a:t>
            </a:r>
            <a:r>
              <a:rPr lang="en-US" sz="3200" dirty="0"/>
              <a:t> </a:t>
            </a:r>
            <a:r>
              <a:rPr lang="en-US" sz="3200" dirty="0" err="1"/>
              <a:t>berkomunikasi</a:t>
            </a:r>
            <a:r>
              <a:rPr lang="en-US" sz="3200" dirty="0"/>
              <a:t> </a:t>
            </a:r>
            <a:r>
              <a:rPr lang="en-US" sz="3200" dirty="0" err="1"/>
              <a:t>satu</a:t>
            </a:r>
            <a:r>
              <a:rPr lang="en-US" sz="3200" dirty="0"/>
              <a:t> </a:t>
            </a:r>
            <a:r>
              <a:rPr lang="en-US" sz="3200" dirty="0" err="1"/>
              <a:t>sama</a:t>
            </a:r>
            <a:r>
              <a:rPr lang="en-US" sz="3200" dirty="0"/>
              <a:t> lain. </a:t>
            </a:r>
            <a:r>
              <a:rPr lang="en-US" sz="3200" dirty="0" err="1"/>
              <a:t>Setiap</a:t>
            </a:r>
            <a:r>
              <a:rPr lang="en-US" sz="3200" dirty="0"/>
              <a:t> motherboard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spesifikasi-nya</a:t>
            </a:r>
            <a:r>
              <a:rPr lang="en-US" sz="3200" dirty="0"/>
              <a:t> </a:t>
            </a:r>
            <a:r>
              <a:rPr lang="en-US" sz="3200" dirty="0" err="1"/>
              <a:t>masing-masing</a:t>
            </a:r>
            <a:r>
              <a:rPr lang="en-US" sz="3200" dirty="0"/>
              <a:t>, </a:t>
            </a:r>
            <a:r>
              <a:rPr lang="en-US" sz="3200" dirty="0" err="1"/>
              <a:t>spesifikasi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processor </a:t>
            </a:r>
            <a:r>
              <a:rPr lang="en-US" sz="3200" dirty="0" err="1"/>
              <a:t>apa</a:t>
            </a:r>
            <a:r>
              <a:rPr lang="en-US" sz="3200" dirty="0"/>
              <a:t> yang </a:t>
            </a:r>
            <a:r>
              <a:rPr lang="en-US" sz="3200" dirty="0" err="1"/>
              <a:t>didukungnya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kapasitas</a:t>
            </a:r>
            <a:r>
              <a:rPr lang="en-US" sz="3200" dirty="0"/>
              <a:t> </a:t>
            </a:r>
            <a:r>
              <a:rPr lang="en-US" sz="3200" dirty="0" err="1"/>
              <a:t>maksimal</a:t>
            </a:r>
            <a:r>
              <a:rPr lang="en-US" sz="3200" dirty="0"/>
              <a:t> RAM yang </a:t>
            </a:r>
            <a:r>
              <a:rPr lang="en-US" sz="3200" dirty="0" err="1"/>
              <a:t>didukung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motherboard </a:t>
            </a:r>
            <a:r>
              <a:rPr lang="en-US" sz="3200" dirty="0" err="1"/>
              <a:t>tersebut</a:t>
            </a:r>
            <a:r>
              <a:rPr lang="en-US" sz="3200" dirty="0"/>
              <a:t>.</a:t>
            </a: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motherboard_samping.jpg?w=300&amp;h=113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4419600"/>
            <a:ext cx="75438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Processor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1"/>
            <a:ext cx="79248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algn="just"/>
            <a:r>
              <a:rPr lang="en-US" sz="3200" dirty="0" err="1" smtClean="0"/>
              <a:t>Jika</a:t>
            </a:r>
            <a:r>
              <a:rPr lang="en-US" sz="3200" dirty="0" smtClean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diibaratkan</a:t>
            </a:r>
            <a:r>
              <a:rPr lang="en-US" sz="3200" dirty="0"/>
              <a:t> </a:t>
            </a:r>
            <a:r>
              <a:rPr lang="en-US" sz="3200" dirty="0" err="1"/>
              <a:t>sebagai</a:t>
            </a:r>
            <a:r>
              <a:rPr lang="en-US" sz="3200" dirty="0"/>
              <a:t> </a:t>
            </a:r>
            <a:r>
              <a:rPr lang="en-US" sz="3200" dirty="0" err="1"/>
              <a:t>seorang</a:t>
            </a:r>
            <a:r>
              <a:rPr lang="en-US" sz="3200" dirty="0"/>
              <a:t> </a:t>
            </a:r>
            <a:r>
              <a:rPr lang="en-US" sz="3200" dirty="0" err="1"/>
              <a:t>manusia</a:t>
            </a:r>
            <a:r>
              <a:rPr lang="en-US" sz="3200" dirty="0"/>
              <a:t>, </a:t>
            </a:r>
            <a:r>
              <a:rPr lang="en-US" sz="3200" dirty="0" err="1"/>
              <a:t>maka</a:t>
            </a:r>
            <a:r>
              <a:rPr lang="en-US" sz="3200" dirty="0"/>
              <a:t> processor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otak</a:t>
            </a:r>
            <a:r>
              <a:rPr lang="en-US" sz="3200" dirty="0"/>
              <a:t> </a:t>
            </a:r>
            <a:r>
              <a:rPr lang="en-US" sz="3200" dirty="0" err="1"/>
              <a:t>manusia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. Processor </a:t>
            </a:r>
            <a:r>
              <a:rPr lang="en-US" sz="3200" dirty="0" err="1"/>
              <a:t>atau</a:t>
            </a:r>
            <a:r>
              <a:rPr lang="en-US" sz="3200" dirty="0"/>
              <a:t> CPU (Central Processing Unit)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yang </a:t>
            </a:r>
            <a:r>
              <a:rPr lang="en-US" sz="3200" dirty="0" err="1"/>
              <a:t>bertugas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mengeksekusi</a:t>
            </a:r>
            <a:r>
              <a:rPr lang="en-US" sz="3200" dirty="0"/>
              <a:t> </a:t>
            </a:r>
            <a:r>
              <a:rPr lang="en-US" sz="3200" dirty="0" err="1"/>
              <a:t>instruksi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melakukan</a:t>
            </a:r>
            <a:r>
              <a:rPr lang="en-US" sz="3200" dirty="0"/>
              <a:t> </a:t>
            </a:r>
            <a:r>
              <a:rPr lang="en-US" sz="3200" dirty="0" err="1"/>
              <a:t>perhitungan-perhitungan</a:t>
            </a:r>
            <a:r>
              <a:rPr lang="en-US" sz="3200" dirty="0"/>
              <a:t>. </a:t>
            </a:r>
            <a:r>
              <a:rPr lang="en-US" sz="3200" dirty="0" err="1"/>
              <a:t>Sebelum</a:t>
            </a:r>
            <a:r>
              <a:rPr lang="en-US" sz="3200" dirty="0"/>
              <a:t> </a:t>
            </a:r>
            <a:r>
              <a:rPr lang="en-US" sz="3200" dirty="0" err="1"/>
              <a:t>membeli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processor kalian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mencari</a:t>
            </a:r>
            <a:r>
              <a:rPr lang="en-US" sz="3200" dirty="0"/>
              <a:t> </a:t>
            </a:r>
            <a:r>
              <a:rPr lang="en-US" sz="3200" dirty="0" err="1"/>
              <a:t>tahu</a:t>
            </a:r>
            <a:r>
              <a:rPr lang="en-US" sz="3200" dirty="0"/>
              <a:t> </a:t>
            </a:r>
            <a:r>
              <a:rPr lang="en-US" sz="3200" dirty="0" err="1"/>
              <a:t>terlebih</a:t>
            </a:r>
            <a:r>
              <a:rPr lang="en-US" sz="3200" dirty="0"/>
              <a:t> </a:t>
            </a:r>
            <a:r>
              <a:rPr lang="en-US" sz="3200" dirty="0" err="1"/>
              <a:t>dahulu</a:t>
            </a:r>
            <a:r>
              <a:rPr lang="en-US" sz="3200" dirty="0"/>
              <a:t> socket processor </a:t>
            </a:r>
            <a:r>
              <a:rPr lang="en-US" sz="3200" dirty="0" err="1"/>
              <a:t>apa</a:t>
            </a:r>
            <a:r>
              <a:rPr lang="en-US" sz="3200" dirty="0"/>
              <a:t> yang </a:t>
            </a:r>
            <a:r>
              <a:rPr lang="en-US" sz="3200" dirty="0" err="1"/>
              <a:t>dimiliki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</a:t>
            </a:r>
            <a:r>
              <a:rPr lang="en-US" sz="3200" dirty="0" smtClean="0"/>
              <a:t>motherboard, </a:t>
            </a:r>
            <a:r>
              <a:rPr lang="en-US" sz="3200" dirty="0" err="1"/>
              <a:t>apakah</a:t>
            </a:r>
            <a:r>
              <a:rPr lang="en-US" sz="3200" dirty="0"/>
              <a:t> socket AM2, socket LGA, </a:t>
            </a:r>
            <a:r>
              <a:rPr lang="en-US" sz="3200" dirty="0" err="1"/>
              <a:t>atau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</a:t>
            </a: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heat_sink.jpg?w=267&amp;h=165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810000"/>
            <a:ext cx="3352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8" name="Picture 2" descr="http://t3.gstatic.com/images?q=tbn:ANd9GcSslhm0uPviN_VPg8M6vIp1G7DpDmzHiGzumtcv6EfvuVAJROg5d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3886200"/>
            <a:ext cx="1676400" cy="1371601"/>
          </a:xfrm>
          <a:prstGeom prst="rect">
            <a:avLst/>
          </a:prstGeom>
          <a:noFill/>
        </p:spPr>
      </p:pic>
      <p:pic>
        <p:nvPicPr>
          <p:cNvPr id="29700" name="Picture 4" descr="http://t2.gstatic.com/images?q=tbn:ANd9GcTZcmKqfZaq3vpgikKkcXOjPxWiD_XCUYBxaYuNeKWhVuh1TueaKw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95400" y="4714875"/>
            <a:ext cx="2143125" cy="2143125"/>
          </a:xfrm>
          <a:prstGeom prst="rect">
            <a:avLst/>
          </a:prstGeom>
          <a:noFill/>
        </p:spPr>
      </p:pic>
      <p:pic>
        <p:nvPicPr>
          <p:cNvPr id="29702" name="Picture 6" descr="http://t3.gstatic.com/images?q=tbn:ANd9GcRPhz-lTE8uvFYuJ4vOKgE1MWV3mvkS1fevf02MmFOs7uzcFscW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200400" y="4876800"/>
            <a:ext cx="2272623" cy="160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 smtClean="0"/>
              <a:t>RAM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1"/>
            <a:ext cx="8001000" cy="2438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US" sz="3200" dirty="0" smtClean="0"/>
              <a:t>RAM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singkatan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Random Access Memory, </a:t>
            </a:r>
            <a:r>
              <a:rPr lang="en-US" sz="3200" dirty="0" err="1"/>
              <a:t>yaitu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yang </a:t>
            </a:r>
            <a:r>
              <a:rPr lang="en-US" sz="3200" dirty="0" err="1"/>
              <a:t>berfungsi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menyimpan</a:t>
            </a:r>
            <a:r>
              <a:rPr lang="en-US" sz="3200" dirty="0"/>
              <a:t> data </a:t>
            </a:r>
            <a:r>
              <a:rPr lang="en-US" sz="3200" dirty="0" err="1"/>
              <a:t>sementara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program yang </a:t>
            </a:r>
            <a:r>
              <a:rPr lang="en-US" sz="3200" dirty="0" err="1"/>
              <a:t>sedang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jalankan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data-data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diakses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acak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random. </a:t>
            </a:r>
            <a:r>
              <a:rPr lang="en-US" sz="3200" dirty="0" err="1"/>
              <a:t>Sebelum</a:t>
            </a:r>
            <a:r>
              <a:rPr lang="en-US" sz="3200" dirty="0"/>
              <a:t> </a:t>
            </a:r>
            <a:r>
              <a:rPr lang="en-US" sz="3200" dirty="0" err="1"/>
              <a:t>membeli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RAM kalian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mencari</a:t>
            </a:r>
            <a:r>
              <a:rPr lang="en-US" sz="3200" dirty="0"/>
              <a:t> </a:t>
            </a:r>
            <a:r>
              <a:rPr lang="en-US" sz="3200" dirty="0" err="1"/>
              <a:t>tahu</a:t>
            </a:r>
            <a:r>
              <a:rPr lang="en-US" sz="3200" dirty="0"/>
              <a:t> </a:t>
            </a:r>
            <a:r>
              <a:rPr lang="en-US" sz="3200" dirty="0" err="1"/>
              <a:t>terlebih</a:t>
            </a:r>
            <a:r>
              <a:rPr lang="en-US" sz="3200" dirty="0"/>
              <a:t> </a:t>
            </a:r>
            <a:r>
              <a:rPr lang="en-US" sz="3200" dirty="0" err="1"/>
              <a:t>dahulu</a:t>
            </a:r>
            <a:r>
              <a:rPr lang="en-US" sz="3200" dirty="0"/>
              <a:t> slot RAM </a:t>
            </a:r>
            <a:r>
              <a:rPr lang="en-US" sz="3200" dirty="0" err="1"/>
              <a:t>apa</a:t>
            </a:r>
            <a:r>
              <a:rPr lang="en-US" sz="3200" dirty="0"/>
              <a:t> yang </a:t>
            </a:r>
            <a:r>
              <a:rPr lang="en-US" sz="3200" dirty="0" err="1"/>
              <a:t>dimiliki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motherboard kalian, </a:t>
            </a:r>
            <a:r>
              <a:rPr lang="en-US" sz="3200" dirty="0" err="1"/>
              <a:t>apakah</a:t>
            </a:r>
            <a:r>
              <a:rPr lang="en-US" sz="3200" dirty="0"/>
              <a:t> SDRAM, DDR, DDR2, DDR3 </a:t>
            </a:r>
            <a:r>
              <a:rPr lang="en-US" sz="3200" dirty="0" err="1"/>
              <a:t>atau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</a:t>
            </a:r>
            <a:r>
              <a:rPr lang="en-US" sz="3200" b="1" dirty="0"/>
              <a:t> </a:t>
            </a:r>
            <a:endParaRPr lang="en-US" sz="3200" dirty="0"/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ram.jpg?w=300&amp;h=94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3886200"/>
            <a:ext cx="7010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Video card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1"/>
            <a:ext cx="80010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lang="en-US" sz="3200" b="1" dirty="0"/>
              <a:t> </a:t>
            </a:r>
            <a:endParaRPr lang="en-US" sz="3200" dirty="0"/>
          </a:p>
          <a:p>
            <a:pPr algn="just"/>
            <a:r>
              <a:rPr lang="en-US" sz="3200" dirty="0"/>
              <a:t>Video card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yang </a:t>
            </a:r>
            <a:r>
              <a:rPr lang="en-US" sz="3200" dirty="0" err="1"/>
              <a:t>berfungsi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menghasilkan</a:t>
            </a:r>
            <a:r>
              <a:rPr lang="en-US" sz="3200" dirty="0"/>
              <a:t> output </a:t>
            </a:r>
            <a:r>
              <a:rPr lang="en-US" sz="3200" dirty="0" err="1"/>
              <a:t>gambar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ditampilkan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monitor. </a:t>
            </a:r>
            <a:r>
              <a:rPr lang="en-US" sz="3200" dirty="0" err="1"/>
              <a:t>Sebelum</a:t>
            </a:r>
            <a:r>
              <a:rPr lang="en-US" sz="3200" dirty="0"/>
              <a:t> </a:t>
            </a:r>
            <a:r>
              <a:rPr lang="en-US" sz="3200" dirty="0" err="1"/>
              <a:t>membeli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video card, kalian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mencari</a:t>
            </a:r>
            <a:r>
              <a:rPr lang="en-US" sz="3200" dirty="0"/>
              <a:t> </a:t>
            </a:r>
            <a:r>
              <a:rPr lang="en-US" sz="3200" dirty="0" err="1"/>
              <a:t>tahu</a:t>
            </a:r>
            <a:r>
              <a:rPr lang="en-US" sz="3200" dirty="0"/>
              <a:t> </a:t>
            </a:r>
            <a:r>
              <a:rPr lang="en-US" sz="3200" dirty="0" err="1"/>
              <a:t>terlebih</a:t>
            </a:r>
            <a:r>
              <a:rPr lang="en-US" sz="3200" dirty="0"/>
              <a:t> </a:t>
            </a:r>
            <a:r>
              <a:rPr lang="en-US" sz="3200" dirty="0" err="1"/>
              <a:t>dahulu</a:t>
            </a:r>
            <a:r>
              <a:rPr lang="en-US" sz="3200" dirty="0"/>
              <a:t> slot video card </a:t>
            </a:r>
            <a:r>
              <a:rPr lang="en-US" sz="3200" dirty="0" err="1"/>
              <a:t>apa</a:t>
            </a:r>
            <a:r>
              <a:rPr lang="en-US" sz="3200" dirty="0"/>
              <a:t> yang </a:t>
            </a:r>
            <a:r>
              <a:rPr lang="en-US" sz="3200" dirty="0" err="1"/>
              <a:t>dimiliki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motherboard kalian, </a:t>
            </a:r>
            <a:r>
              <a:rPr lang="en-US" sz="3200" dirty="0" err="1"/>
              <a:t>apakah</a:t>
            </a:r>
            <a:r>
              <a:rPr lang="en-US" sz="3200" dirty="0"/>
              <a:t> slot PCI, AGP, PCI-X, PCI Express, </a:t>
            </a:r>
            <a:r>
              <a:rPr lang="en-US" sz="3200" dirty="0" err="1"/>
              <a:t>atau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</a:t>
            </a:r>
            <a:r>
              <a:rPr lang="en-US" sz="3200" b="1" dirty="0"/>
              <a:t> </a:t>
            </a:r>
            <a:endParaRPr lang="en-US" sz="3200" dirty="0"/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vga_card.jpg?w=300&amp;h=193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810000"/>
            <a:ext cx="7848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Hard disk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0"/>
            <a:ext cx="43434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just"/>
            <a:r>
              <a:rPr lang="en-US" sz="3200" dirty="0" smtClean="0"/>
              <a:t>Hard </a:t>
            </a:r>
            <a:r>
              <a:rPr lang="en-US" sz="3200" dirty="0"/>
              <a:t>disk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tempat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menyimpan</a:t>
            </a:r>
            <a:r>
              <a:rPr lang="en-US" sz="3200" dirty="0"/>
              <a:t> data. </a:t>
            </a:r>
            <a:r>
              <a:rPr lang="en-US" sz="3200" dirty="0" err="1"/>
              <a:t>Semakin</a:t>
            </a:r>
            <a:r>
              <a:rPr lang="en-US" sz="3200" dirty="0"/>
              <a:t> </a:t>
            </a:r>
            <a:r>
              <a:rPr lang="en-US" sz="3200" dirty="0" err="1"/>
              <a:t>besar</a:t>
            </a:r>
            <a:r>
              <a:rPr lang="en-US" sz="3200" dirty="0"/>
              <a:t> </a:t>
            </a:r>
            <a:r>
              <a:rPr lang="en-US" sz="3200" dirty="0" err="1"/>
              <a:t>kapasitas</a:t>
            </a:r>
            <a:r>
              <a:rPr lang="en-US" sz="3200" dirty="0"/>
              <a:t> hard disk yang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miliki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semakin</a:t>
            </a:r>
            <a:r>
              <a:rPr lang="en-US" sz="3200" dirty="0"/>
              <a:t> </a:t>
            </a:r>
            <a:r>
              <a:rPr lang="en-US" sz="3200" dirty="0" err="1"/>
              <a:t>banyak</a:t>
            </a:r>
            <a:r>
              <a:rPr lang="en-US" sz="3200" dirty="0"/>
              <a:t> </a:t>
            </a:r>
            <a:r>
              <a:rPr lang="en-US" sz="3200" dirty="0" err="1"/>
              <a:t>juga</a:t>
            </a:r>
            <a:r>
              <a:rPr lang="en-US" sz="3200" dirty="0"/>
              <a:t> data yang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simpan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. </a:t>
            </a:r>
            <a:r>
              <a:rPr lang="en-US" sz="3200" dirty="0" err="1"/>
              <a:t>Sebelum</a:t>
            </a:r>
            <a:r>
              <a:rPr lang="en-US" sz="3200" dirty="0"/>
              <a:t> </a:t>
            </a:r>
            <a:r>
              <a:rPr lang="en-US" sz="3200" dirty="0" err="1"/>
              <a:t>membeli</a:t>
            </a:r>
            <a:r>
              <a:rPr lang="en-US" sz="3200" dirty="0"/>
              <a:t> hard disk kalian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mencari</a:t>
            </a:r>
            <a:r>
              <a:rPr lang="en-US" sz="3200" dirty="0"/>
              <a:t> </a:t>
            </a:r>
            <a:r>
              <a:rPr lang="en-US" sz="3200" dirty="0" err="1"/>
              <a:t>tahu</a:t>
            </a:r>
            <a:r>
              <a:rPr lang="en-US" sz="3200" dirty="0"/>
              <a:t> </a:t>
            </a:r>
            <a:r>
              <a:rPr lang="en-US" sz="3200" dirty="0" err="1"/>
              <a:t>terlebih</a:t>
            </a:r>
            <a:r>
              <a:rPr lang="en-US" sz="3200" dirty="0"/>
              <a:t> </a:t>
            </a:r>
            <a:r>
              <a:rPr lang="en-US" sz="3200" dirty="0" err="1"/>
              <a:t>dahulu</a:t>
            </a:r>
            <a:r>
              <a:rPr lang="en-US" sz="3200" dirty="0"/>
              <a:t> interface hard disk </a:t>
            </a:r>
            <a:r>
              <a:rPr lang="en-US" sz="3200" dirty="0" err="1"/>
              <a:t>apa</a:t>
            </a:r>
            <a:r>
              <a:rPr lang="en-US" sz="3200" dirty="0"/>
              <a:t> yang </a:t>
            </a:r>
            <a:r>
              <a:rPr lang="en-US" sz="3200" dirty="0" err="1"/>
              <a:t>dimiliki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motherboard kalian, </a:t>
            </a:r>
            <a:r>
              <a:rPr lang="en-US" sz="3200" dirty="0" err="1"/>
              <a:t>apakah</a:t>
            </a:r>
            <a:r>
              <a:rPr lang="en-US" sz="3200" dirty="0"/>
              <a:t> IDE, SCSI, SATA, </a:t>
            </a:r>
            <a:r>
              <a:rPr lang="en-US" sz="3200" dirty="0" err="1"/>
              <a:t>atau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</a:t>
            </a:r>
          </a:p>
          <a:p>
            <a:pPr algn="just"/>
            <a:r>
              <a:rPr lang="en-US" sz="3200" dirty="0"/>
              <a:t/>
            </a:r>
            <a:br>
              <a:rPr lang="en-US" sz="3200" dirty="0"/>
            </a:b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8229600" y="6096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hard_disk_atas.jpg?w=300&amp;h=203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5257800" y="1676400"/>
            <a:ext cx="3657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ttp://ilmucerdas.files.wordpress.com/2011/08/hard_disk_belakang.jpg?w=300&amp;h=63">
            <a:hlinkClick r:id="rId5"/>
          </p:cNvPr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34000" y="5486400"/>
            <a:ext cx="3657600" cy="106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http://ilmucerdas.files.wordpress.com/2011/08/pata_cable.jpg?w=300&amp;h=180">
            <a:hlinkClick r:id="rId7"/>
          </p:cNvPr>
          <p:cNvPicPr/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8600" y="0"/>
            <a:ext cx="2854325" cy="171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http://ilmucerdas.files.wordpress.com/2011/08/sata_cable.jpg?w=235&amp;h=140">
            <a:hlinkClick r:id="rId9"/>
          </p:cNvPr>
          <p:cNvPicPr/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19800" y="0"/>
            <a:ext cx="2236470" cy="133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Optical Disc Drive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676401"/>
            <a:ext cx="80010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algn="just"/>
            <a:r>
              <a:rPr lang="en-US" sz="3200" b="1" dirty="0"/>
              <a:t> </a:t>
            </a:r>
            <a:r>
              <a:rPr lang="en-US" sz="3200" dirty="0" err="1"/>
              <a:t>Walaupun</a:t>
            </a:r>
            <a:r>
              <a:rPr lang="en-US" sz="3200" dirty="0"/>
              <a:t> </a:t>
            </a:r>
            <a:r>
              <a:rPr lang="en-US" sz="3200" dirty="0" err="1"/>
              <a:t>tanpa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optical disc drive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nyala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berfungsi</a:t>
            </a:r>
            <a:r>
              <a:rPr lang="en-US" sz="3200" dirty="0"/>
              <a:t>, </a:t>
            </a:r>
            <a:r>
              <a:rPr lang="en-US" sz="3200" dirty="0" err="1"/>
              <a:t>tetapi</a:t>
            </a:r>
            <a:r>
              <a:rPr lang="en-US" sz="3200" dirty="0"/>
              <a:t> </a:t>
            </a:r>
            <a:r>
              <a:rPr lang="en-US" sz="3200" dirty="0" err="1"/>
              <a:t>rasanya</a:t>
            </a:r>
            <a:r>
              <a:rPr lang="en-US" sz="3200" dirty="0"/>
              <a:t> </a:t>
            </a:r>
            <a:r>
              <a:rPr lang="en-US" sz="3200" dirty="0" err="1"/>
              <a:t>tanpa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yang </a:t>
            </a:r>
            <a:r>
              <a:rPr lang="en-US" sz="3200" dirty="0" err="1"/>
              <a:t>satu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komputer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</a:t>
            </a:r>
            <a:r>
              <a:rPr lang="en-US" sz="3200" dirty="0" err="1"/>
              <a:t>terisolasi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dunia</a:t>
            </a:r>
            <a:r>
              <a:rPr lang="en-US" sz="3200" dirty="0"/>
              <a:t> </a:t>
            </a:r>
            <a:r>
              <a:rPr lang="en-US" sz="3200" dirty="0" err="1"/>
              <a:t>luar</a:t>
            </a:r>
            <a:r>
              <a:rPr lang="en-US" sz="3200" dirty="0"/>
              <a:t>, </a:t>
            </a:r>
            <a:r>
              <a:rPr lang="en-US" sz="3200" dirty="0" err="1"/>
              <a:t>terisolasi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dunia</a:t>
            </a:r>
            <a:r>
              <a:rPr lang="en-US" sz="3200" dirty="0"/>
              <a:t> </a:t>
            </a:r>
            <a:r>
              <a:rPr lang="en-US" sz="3200" dirty="0" err="1"/>
              <a:t>luar</a:t>
            </a:r>
            <a:r>
              <a:rPr lang="en-US" sz="3200" dirty="0"/>
              <a:t> </a:t>
            </a:r>
            <a:r>
              <a:rPr lang="en-US" sz="3200" dirty="0" err="1"/>
              <a:t>maksudnya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kesulitan</a:t>
            </a:r>
            <a:r>
              <a:rPr lang="en-US" sz="3200" dirty="0"/>
              <a:t> </a:t>
            </a:r>
            <a:r>
              <a:rPr lang="en-US" sz="3200" dirty="0" err="1"/>
              <a:t>jika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</a:t>
            </a:r>
            <a:r>
              <a:rPr lang="en-US" sz="3200" dirty="0" err="1"/>
              <a:t>ingin</a:t>
            </a:r>
            <a:r>
              <a:rPr lang="en-US" sz="3200" dirty="0"/>
              <a:t> </a:t>
            </a:r>
            <a:r>
              <a:rPr lang="en-US" sz="3200" dirty="0" err="1"/>
              <a:t>meng</a:t>
            </a:r>
            <a:r>
              <a:rPr lang="en-US" sz="3200" dirty="0"/>
              <a:t>-copy data, </a:t>
            </a:r>
            <a:r>
              <a:rPr lang="en-US" sz="3200" dirty="0" err="1"/>
              <a:t>meng</a:t>
            </a:r>
            <a:r>
              <a:rPr lang="en-US" sz="3200" dirty="0"/>
              <a:t>-install program, </a:t>
            </a:r>
            <a:r>
              <a:rPr lang="en-US" sz="3200" dirty="0" err="1"/>
              <a:t>menonton</a:t>
            </a:r>
            <a:r>
              <a:rPr lang="en-US" sz="3200" dirty="0"/>
              <a:t> film VCD </a:t>
            </a:r>
            <a:r>
              <a:rPr lang="en-US" sz="3200" dirty="0" err="1"/>
              <a:t>atau</a:t>
            </a:r>
            <a:r>
              <a:rPr lang="en-US" sz="3200" dirty="0"/>
              <a:t> DVD, yang </a:t>
            </a:r>
            <a:r>
              <a:rPr lang="en-US" sz="3200" dirty="0" err="1"/>
              <a:t>semuanya</a:t>
            </a:r>
            <a:r>
              <a:rPr lang="en-US" sz="3200" dirty="0"/>
              <a:t> </a:t>
            </a:r>
            <a:r>
              <a:rPr lang="en-US" sz="3200" dirty="0" err="1"/>
              <a:t>tersimpan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keping</a:t>
            </a:r>
            <a:r>
              <a:rPr lang="en-US" sz="3200" dirty="0"/>
              <a:t> CD </a:t>
            </a:r>
            <a:r>
              <a:rPr lang="en-US" sz="3200" dirty="0" err="1"/>
              <a:t>atau</a:t>
            </a:r>
            <a:r>
              <a:rPr lang="en-US" sz="3200" dirty="0"/>
              <a:t> DVD. Optical Disc Drive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bisa</a:t>
            </a:r>
            <a:r>
              <a:rPr lang="en-US" sz="3200" dirty="0"/>
              <a:t> </a:t>
            </a:r>
            <a:r>
              <a:rPr lang="en-US" sz="3200" dirty="0" err="1"/>
              <a:t>berupa</a:t>
            </a:r>
            <a:r>
              <a:rPr lang="en-US" sz="3200" dirty="0"/>
              <a:t> CD-ROM, DVD-ROM, DVD-RW, Blue-Ray, </a:t>
            </a:r>
            <a:r>
              <a:rPr lang="en-US" sz="3200" dirty="0" err="1"/>
              <a:t>atau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 </a:t>
            </a:r>
            <a:r>
              <a:rPr lang="en-US" sz="3200" dirty="0" err="1"/>
              <a:t>Sebelum</a:t>
            </a:r>
            <a:r>
              <a:rPr lang="en-US" sz="3200" dirty="0"/>
              <a:t> </a:t>
            </a:r>
            <a:r>
              <a:rPr lang="en-US" sz="3200" dirty="0" err="1"/>
              <a:t>membeli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optical disk drive kalian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mencari</a:t>
            </a:r>
            <a:r>
              <a:rPr lang="en-US" sz="3200" dirty="0"/>
              <a:t> </a:t>
            </a:r>
            <a:r>
              <a:rPr lang="en-US" sz="3200" dirty="0" err="1"/>
              <a:t>tahu</a:t>
            </a:r>
            <a:r>
              <a:rPr lang="en-US" sz="3200" dirty="0"/>
              <a:t> </a:t>
            </a:r>
            <a:r>
              <a:rPr lang="en-US" sz="3200" dirty="0" err="1"/>
              <a:t>dulu</a:t>
            </a:r>
            <a:r>
              <a:rPr lang="en-US" sz="3200" dirty="0"/>
              <a:t> interface </a:t>
            </a:r>
            <a:r>
              <a:rPr lang="en-US" sz="3200" dirty="0" err="1"/>
              <a:t>apa</a:t>
            </a:r>
            <a:r>
              <a:rPr lang="en-US" sz="3200" dirty="0"/>
              <a:t> yang </a:t>
            </a:r>
            <a:r>
              <a:rPr lang="en-US" sz="3200" dirty="0" err="1"/>
              <a:t>dimiliki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motherboard kalian, </a:t>
            </a:r>
            <a:r>
              <a:rPr lang="en-US" sz="3200" dirty="0" err="1"/>
              <a:t>apakah</a:t>
            </a:r>
            <a:r>
              <a:rPr lang="en-US" sz="3200" dirty="0"/>
              <a:t> IDE, SATA, </a:t>
            </a:r>
            <a:r>
              <a:rPr lang="en-US" sz="3200" dirty="0" err="1"/>
              <a:t>atau</a:t>
            </a:r>
            <a:r>
              <a:rPr lang="en-US" sz="3200" dirty="0"/>
              <a:t> lain </a:t>
            </a:r>
            <a:r>
              <a:rPr lang="en-US" sz="3200" dirty="0" err="1"/>
              <a:t>sebagainya</a:t>
            </a:r>
            <a:r>
              <a:rPr lang="en-US" sz="3200" dirty="0"/>
              <a:t>. </a:t>
            </a:r>
          </a:p>
        </p:txBody>
      </p:sp>
      <p:sp>
        <p:nvSpPr>
          <p:cNvPr id="7" name="Curved Down Arrow 6">
            <a:hlinkClick r:id="rId2" action="ppaction://hlinksldjump"/>
          </p:cNvPr>
          <p:cNvSpPr/>
          <p:nvPr/>
        </p:nvSpPr>
        <p:spPr>
          <a:xfrm>
            <a:off x="7848600" y="685800"/>
            <a:ext cx="762000" cy="609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http://ilmucerdas.files.wordpress.com/2011/08/opticaldrive_depan.jpg?w=300&amp;h=112">
            <a:hlinkClick r:id="rId3"/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4648200"/>
            <a:ext cx="4114800" cy="1901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ttp://ilmucerdas.files.wordpress.com/2011/08/optical_drive_belakang.jpg?w=294&amp;h=82">
            <a:hlinkClick r:id="rId5"/>
          </p:cNvPr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5800" y="4724400"/>
            <a:ext cx="3962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533</Words>
  <Application>Microsoft Office PowerPoint</Application>
  <PresentationFormat>On-screen Show (4:3)</PresentationFormat>
  <Paragraphs>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Komponen Motherboard (MOBO)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Cashing</vt:lpstr>
      <vt:lpstr> Power Supply </vt:lpstr>
      <vt:lpstr>Motherboard / Mainboard </vt:lpstr>
      <vt:lpstr>Processor</vt:lpstr>
      <vt:lpstr> RAM </vt:lpstr>
      <vt:lpstr>Video card</vt:lpstr>
      <vt:lpstr>Hard disk </vt:lpstr>
      <vt:lpstr>Optical Disc Drive </vt:lpstr>
    </vt:vector>
  </TitlesOfParts>
  <Company>upd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ayah</dc:creator>
  <cp:lastModifiedBy>asol</cp:lastModifiedBy>
  <cp:revision>19</cp:revision>
  <dcterms:created xsi:type="dcterms:W3CDTF">2013-02-27T22:27:17Z</dcterms:created>
  <dcterms:modified xsi:type="dcterms:W3CDTF">2020-09-06T13:08:16Z</dcterms:modified>
</cp:coreProperties>
</file>