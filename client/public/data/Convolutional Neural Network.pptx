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ileron Bold" charset="1" panose="00000800000000000000"/>
      <p:regular r:id="rId11"/>
    </p:embeddedFont>
    <p:embeddedFont>
      <p:font typeface="Aileron" charset="1" panose="00000500000000000000"/>
      <p:regular r:id="rId12"/>
    </p:embeddedFont>
    <p:embeddedFont>
      <p:font typeface="Aileron Italics" charset="1" panose="00000500000000000000"/>
      <p:regular r:id="rId13"/>
    </p:embeddedFont>
    <p:embeddedFont>
      <p:font typeface="Aileron Bold Italics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VAG2svxwiOI.mp4" Type="http://schemas.openxmlformats.org/officeDocument/2006/relationships/video"/><Relationship Id="rId5" Target="../media/VAG2svxwiOI.mp4" Type="http://schemas.microsoft.com/office/2007/relationships/media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VAG2s_XWF-M.mp4" Type="http://schemas.openxmlformats.org/officeDocument/2006/relationships/video"/><Relationship Id="rId7" Target="../media/VAG2s_XWF-M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0906" y="115176"/>
            <a:ext cx="714986" cy="714986"/>
          </a:xfrm>
          <a:custGeom>
            <a:avLst/>
            <a:gdLst/>
            <a:ahLst/>
            <a:cxnLst/>
            <a:rect r="r" b="b" t="t" l="l"/>
            <a:pathLst>
              <a:path h="714986" w="714986">
                <a:moveTo>
                  <a:pt x="0" y="0"/>
                </a:moveTo>
                <a:lnTo>
                  <a:pt x="714986" y="0"/>
                </a:lnTo>
                <a:lnTo>
                  <a:pt x="714986" y="714986"/>
                </a:lnTo>
                <a:lnTo>
                  <a:pt x="0" y="71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578" t="18892" r="404" b="15186"/>
          <a:stretch>
            <a:fillRect/>
          </a:stretch>
        </p:blipFill>
        <p:spPr>
          <a:xfrm flipH="false" flipV="false" rot="0">
            <a:off x="7690839" y="1464821"/>
            <a:ext cx="10320562" cy="3435532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20918" y="1747872"/>
            <a:ext cx="6904182" cy="1828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1"/>
              </a:lnSpc>
            </a:pPr>
            <a:r>
              <a:rPr lang="en-US" sz="7501" spc="-37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Convolutional</a:t>
            </a:r>
          </a:p>
          <a:p>
            <a:pPr algn="l">
              <a:lnSpc>
                <a:spcPts val="6901"/>
              </a:lnSpc>
            </a:pPr>
            <a:r>
              <a:rPr lang="en-US" sz="7501" spc="-37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Neural Network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312" y="225206"/>
            <a:ext cx="2825101" cy="57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b="true" sz="2999" spc="-149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Dylan Amadeus</a:t>
            </a:r>
          </a:p>
          <a:p>
            <a:pPr algn="r">
              <a:lnSpc>
                <a:spcPts val="368"/>
              </a:lnSpc>
            </a:pPr>
          </a:p>
          <a:p>
            <a:pPr algn="r">
              <a:lnSpc>
                <a:spcPts val="1379"/>
              </a:lnSpc>
            </a:pPr>
            <a:r>
              <a:rPr lang="en-US" sz="1499" spc="-74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140810220003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20918" y="3668786"/>
            <a:ext cx="6987015" cy="82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2301" i="true" spc="-115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Neural networks</a:t>
            </a:r>
            <a:r>
              <a:rPr lang="en-US" sz="2301" spc="-11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yang digunakan dalam memproses </a:t>
            </a:r>
            <a:r>
              <a:rPr lang="en-US" sz="2301" spc="-11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data secara spatial</a:t>
            </a:r>
            <a:r>
              <a:rPr lang="en-US" sz="2301" spc="-11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Algorithma CNN ini digunakan untuk mengolah </a:t>
            </a:r>
            <a:r>
              <a:rPr lang="en-US" sz="2301" spc="-11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data </a:t>
            </a:r>
            <a:r>
              <a:rPr lang="en-US" b="true" sz="2301" i="true" spc="-115">
                <a:solidFill>
                  <a:srgbClr val="D92B1A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image</a:t>
            </a:r>
            <a:r>
              <a:rPr lang="en-US" sz="2301" spc="-11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5446" y="6023482"/>
            <a:ext cx="4081185" cy="121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Lapisan filter at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u ker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el ya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bergerak di s</a:t>
            </a:r>
            <a:r>
              <a:rPr lang="en-US" b="true" sz="2101" spc="-10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el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uruh</a:t>
            </a:r>
            <a:r>
              <a:rPr lang="en-US" b="true" sz="2101" spc="-10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gambar input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 Hasil konvolusi ini menciptakan peta fitur yang bertindak sebag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ai representa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si d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ari g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mbar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5446" y="5658312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Lapisan Konvolusi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446" y="8307084"/>
            <a:ext cx="4081185" cy="1217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Lapisan pooling digunak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u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tuk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mengurangi dimensi spasial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peta fitur dengan mengambil nilai maksimum atau rata-rata 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di are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 tertentu.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446" y="7941915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Lapisan Pooling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73001" y="6023482"/>
            <a:ext cx="4081185" cy="97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Gambar memiliki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3 chan</a:t>
            </a:r>
            <a:r>
              <a:rPr lang="en-US" b="true" sz="2101" spc="-10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el (RGB)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CNN m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manfaatkan ini dengan filter yang juga memiliki kedalam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 sesua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i juml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ah channel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73001" y="5658312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Channel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73001" y="8307084"/>
            <a:ext cx="4081185" cy="97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Kernel adalah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jendela kecil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(misalnya 3×3) y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 “me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yapu”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gambar. Ia menangkap pola lokal seperti tepi atau sudut.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73001" y="7941915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Kernel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9461" y="6023482"/>
            <a:ext cx="4081185" cy="97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Stride adalah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langkah geser ker</a:t>
            </a:r>
            <a:r>
              <a:rPr lang="en-US" b="true" sz="2101" spc="-10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n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el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Stride 1 b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er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arti kernel berpindah satu piksel, sedangkan stride 2 membuat lompatan lebih jauh.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49461" y="5658312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Stride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49461" y="8307084"/>
            <a:ext cx="4081185" cy="979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Padding, kita menambahkan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bingkai nol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di sekeliling gambar, sehingga ukur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output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bisa tetap sama dan informasi di tepi tidak hilang.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49461" y="7941915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Padding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11369" y="5582638"/>
            <a:ext cx="4081185" cy="1455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Pooling berfungsi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meringkas informasi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. Max pooling 2×2 dengan stride 2 adalah yang paling populer: ia me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ngambi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l nilai terbesar dalam area kecil, sekaligus mengurangi ukuran data.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11369" y="5217469"/>
            <a:ext cx="4081185" cy="317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Pooling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611369" y="8151991"/>
            <a:ext cx="4081185" cy="169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3"/>
              </a:lnSpc>
            </a:pP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Setelah melalui lapisan konvolusi dan pooling, hasilnya di-flatten lalu masuk ke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lapisan fully-connected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untuk menentukan output.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Aktivasi ReLU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sering dipakai karena sederhana d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efektif. Sementara itu, dropout membantu </a:t>
            </a:r>
            <a:r>
              <a:rPr lang="en-US" sz="2101" spc="-105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mencegah overfitting</a:t>
            </a:r>
            <a:r>
              <a:rPr lang="en-US" sz="2101" spc="-105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11369" y="7501071"/>
            <a:ext cx="4081185" cy="603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501" spc="-125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Aktivasi, Dropout, dan Fully-Connected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0906" y="115176"/>
            <a:ext cx="714986" cy="714986"/>
          </a:xfrm>
          <a:custGeom>
            <a:avLst/>
            <a:gdLst/>
            <a:ahLst/>
            <a:cxnLst/>
            <a:rect r="r" b="b" t="t" l="l"/>
            <a:pathLst>
              <a:path h="714986" w="714986">
                <a:moveTo>
                  <a:pt x="0" y="0"/>
                </a:moveTo>
                <a:lnTo>
                  <a:pt x="714986" y="0"/>
                </a:lnTo>
                <a:lnTo>
                  <a:pt x="714986" y="714986"/>
                </a:lnTo>
                <a:lnTo>
                  <a:pt x="0" y="71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8749" y="3644964"/>
            <a:ext cx="8461157" cy="4769977"/>
          </a:xfrm>
          <a:custGeom>
            <a:avLst/>
            <a:gdLst/>
            <a:ahLst/>
            <a:cxnLst/>
            <a:rect r="r" b="b" t="t" l="l"/>
            <a:pathLst>
              <a:path h="4769977" w="8461157">
                <a:moveTo>
                  <a:pt x="0" y="0"/>
                </a:moveTo>
                <a:lnTo>
                  <a:pt x="8461157" y="0"/>
                </a:lnTo>
                <a:lnTo>
                  <a:pt x="8461157" y="4769977"/>
                </a:lnTo>
                <a:lnTo>
                  <a:pt x="0" y="4769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68792" y="1298767"/>
            <a:ext cx="6341072" cy="2346197"/>
          </a:xfrm>
          <a:custGeom>
            <a:avLst/>
            <a:gdLst/>
            <a:ahLst/>
            <a:cxnLst/>
            <a:rect r="r" b="b" t="t" l="l"/>
            <a:pathLst>
              <a:path h="2346197" w="6341072">
                <a:moveTo>
                  <a:pt x="0" y="0"/>
                </a:moveTo>
                <a:lnTo>
                  <a:pt x="6341072" y="0"/>
                </a:lnTo>
                <a:lnTo>
                  <a:pt x="6341072" y="2346197"/>
                </a:lnTo>
                <a:lnTo>
                  <a:pt x="0" y="2346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5"/>
          <a:srcRect l="0" t="0" r="2908" b="3386"/>
          <a:stretch>
            <a:fillRect/>
          </a:stretch>
        </p:blipFill>
        <p:spPr>
          <a:xfrm flipH="false" flipV="false" rot="0">
            <a:off x="9959466" y="1298767"/>
            <a:ext cx="7191349" cy="667883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8877280"/>
            <a:ext cx="16230600" cy="95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b="true" sz="7501" spc="-37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Ilustrasi Perhitungan</a:t>
            </a:r>
            <a:r>
              <a:rPr lang="en-US" b="true" sz="7501" spc="-37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 CNN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02312" y="225206"/>
            <a:ext cx="2825101" cy="57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b="true" sz="2999" spc="-149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Dylan Amadeus</a:t>
            </a:r>
          </a:p>
          <a:p>
            <a:pPr algn="r">
              <a:lnSpc>
                <a:spcPts val="368"/>
              </a:lnSpc>
            </a:pPr>
          </a:p>
          <a:p>
            <a:pPr algn="r">
              <a:lnSpc>
                <a:spcPts val="1379"/>
              </a:lnSpc>
            </a:pPr>
            <a:r>
              <a:rPr lang="en-US" sz="1499" spc="-74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140810220003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0906" y="115176"/>
            <a:ext cx="714986" cy="714986"/>
          </a:xfrm>
          <a:custGeom>
            <a:avLst/>
            <a:gdLst/>
            <a:ahLst/>
            <a:cxnLst/>
            <a:rect r="r" b="b" t="t" l="l"/>
            <a:pathLst>
              <a:path h="714986" w="714986">
                <a:moveTo>
                  <a:pt x="0" y="0"/>
                </a:moveTo>
                <a:lnTo>
                  <a:pt x="714986" y="0"/>
                </a:lnTo>
                <a:lnTo>
                  <a:pt x="714986" y="714986"/>
                </a:lnTo>
                <a:lnTo>
                  <a:pt x="0" y="71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53692" y="1139020"/>
            <a:ext cx="12780615" cy="7205072"/>
          </a:xfrm>
          <a:custGeom>
            <a:avLst/>
            <a:gdLst/>
            <a:ahLst/>
            <a:cxnLst/>
            <a:rect r="r" b="b" t="t" l="l"/>
            <a:pathLst>
              <a:path h="7205072" w="12780615">
                <a:moveTo>
                  <a:pt x="0" y="0"/>
                </a:moveTo>
                <a:lnTo>
                  <a:pt x="12780616" y="0"/>
                </a:lnTo>
                <a:lnTo>
                  <a:pt x="12780616" y="7205071"/>
                </a:lnTo>
                <a:lnTo>
                  <a:pt x="0" y="7205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877280"/>
            <a:ext cx="16230600" cy="95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b="true" sz="7501" spc="-37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Contoh </a:t>
            </a:r>
            <a:r>
              <a:rPr lang="en-US" b="true" sz="7501" spc="-37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Matriks Perhitungan</a:t>
            </a:r>
            <a:r>
              <a:rPr lang="en-US" b="true" sz="7501" spc="-37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Layer CNN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312" y="225206"/>
            <a:ext cx="2825101" cy="57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b="true" sz="2999" spc="-149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Dylan Amadeus</a:t>
            </a:r>
          </a:p>
          <a:p>
            <a:pPr algn="r">
              <a:lnSpc>
                <a:spcPts val="368"/>
              </a:lnSpc>
            </a:pPr>
          </a:p>
          <a:p>
            <a:pPr algn="r">
              <a:lnSpc>
                <a:spcPts val="1379"/>
              </a:lnSpc>
            </a:pPr>
            <a:r>
              <a:rPr lang="en-US" sz="1499" spc="-74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140810220003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0906" y="115176"/>
            <a:ext cx="714986" cy="714986"/>
          </a:xfrm>
          <a:custGeom>
            <a:avLst/>
            <a:gdLst/>
            <a:ahLst/>
            <a:cxnLst/>
            <a:rect r="r" b="b" t="t" l="l"/>
            <a:pathLst>
              <a:path h="714986" w="714986">
                <a:moveTo>
                  <a:pt x="0" y="0"/>
                </a:moveTo>
                <a:lnTo>
                  <a:pt x="714986" y="0"/>
                </a:lnTo>
                <a:lnTo>
                  <a:pt x="714986" y="714986"/>
                </a:lnTo>
                <a:lnTo>
                  <a:pt x="0" y="7149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68642" y="1367444"/>
          <a:ext cx="15550715" cy="7152920"/>
        </p:xfrm>
        <a:graphic>
          <a:graphicData uri="http://schemas.openxmlformats.org/drawingml/2006/table">
            <a:tbl>
              <a:tblPr/>
              <a:tblGrid>
                <a:gridCol w="3887679"/>
                <a:gridCol w="3887679"/>
                <a:gridCol w="3887679"/>
                <a:gridCol w="3887679"/>
              </a:tblGrid>
              <a:tr h="13557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Fokus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LeNet-5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Aileron Bold"/>
                          <a:ea typeface="Aileron Bold"/>
                          <a:cs typeface="Aileron Bold"/>
                          <a:sym typeface="Aileron Bold"/>
                        </a:rPr>
                        <a:t>AlexNet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VGG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99"/>
                    </a:solidFill>
                  </a:tcPr>
                </a:tc>
              </a:tr>
              <a:tr h="15528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Kelebihan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Lebih Ringan dan Efisien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Akurasinya Tinggi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Strukturnya Rapi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26915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Fungsi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Untuk Edge dan Angka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Pola yang Kompleks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Untuk Representasi Visual yang Memiliki banyak Lapisan kecil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  <a:tr h="15528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Ciri-Ciri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Struktur Sederhana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Lebih Deep (Layernya)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000000"/>
                          </a:solidFill>
                          <a:latin typeface="Aileron"/>
                          <a:ea typeface="Aileron"/>
                          <a:cs typeface="Aileron"/>
                          <a:sym typeface="Aileron"/>
                        </a:rPr>
                        <a:t>Banyak Layer Kecil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E3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028700" y="8877280"/>
            <a:ext cx="16230600" cy="95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1"/>
              </a:lnSpc>
            </a:pPr>
            <a:r>
              <a:rPr lang="en-US" b="true" sz="7501" spc="-375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Model</a:t>
            </a:r>
            <a:r>
              <a:rPr lang="en-US" b="true" sz="7501" spc="-375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CNN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02312" y="225206"/>
            <a:ext cx="2825101" cy="57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b="true" sz="2999" spc="-149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Dylan Amadeus</a:t>
            </a:r>
          </a:p>
          <a:p>
            <a:pPr algn="r">
              <a:lnSpc>
                <a:spcPts val="368"/>
              </a:lnSpc>
            </a:pPr>
          </a:p>
          <a:p>
            <a:pPr algn="r">
              <a:lnSpc>
                <a:spcPts val="1379"/>
              </a:lnSpc>
            </a:pPr>
            <a:r>
              <a:rPr lang="en-US" sz="1499" spc="-74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140810220003</a:t>
            </a: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32638" y="4503871"/>
            <a:ext cx="8822723" cy="1129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9"/>
              </a:lnSpc>
            </a:pPr>
            <a:r>
              <a:rPr lang="en-US" b="true" sz="8999" spc="-314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Terima </a:t>
            </a:r>
            <a:r>
              <a:rPr lang="en-US" b="true" sz="8999" spc="-314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Kasih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86350" y="5700198"/>
            <a:ext cx="8115300" cy="3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</a:pPr>
            <a:r>
              <a:rPr lang="en-US" sz="2600" i="true" spc="-91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Convolutional Neural Network</a:t>
            </a:r>
            <a:r>
              <a:rPr lang="en-US" sz="2600" spc="-91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Dasar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7387" y="9550400"/>
            <a:ext cx="88227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Referensi: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699999">
            <a:off x="999857" y="1186805"/>
            <a:ext cx="1345208" cy="931862"/>
          </a:xfrm>
          <a:custGeom>
            <a:avLst/>
            <a:gdLst/>
            <a:ahLst/>
            <a:cxnLst/>
            <a:rect r="r" b="b" t="t" l="l"/>
            <a:pathLst>
              <a:path h="931862" w="1345208">
                <a:moveTo>
                  <a:pt x="0" y="0"/>
                </a:moveTo>
                <a:lnTo>
                  <a:pt x="1345208" y="0"/>
                </a:lnTo>
                <a:lnTo>
                  <a:pt x="1345208" y="931862"/>
                </a:lnTo>
                <a:lnTo>
                  <a:pt x="0" y="931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410906" y="115176"/>
            <a:ext cx="714986" cy="714986"/>
          </a:xfrm>
          <a:custGeom>
            <a:avLst/>
            <a:gdLst/>
            <a:ahLst/>
            <a:cxnLst/>
            <a:rect r="r" b="b" t="t" l="l"/>
            <a:pathLst>
              <a:path h="714986" w="714986">
                <a:moveTo>
                  <a:pt x="0" y="0"/>
                </a:moveTo>
                <a:lnTo>
                  <a:pt x="714986" y="0"/>
                </a:lnTo>
                <a:lnTo>
                  <a:pt x="714986" y="714986"/>
                </a:lnTo>
                <a:lnTo>
                  <a:pt x="0" y="714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502312" y="225206"/>
            <a:ext cx="2825101" cy="57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b="true" sz="2999" spc="-149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Dylan Amadeus</a:t>
            </a:r>
          </a:p>
          <a:p>
            <a:pPr algn="r">
              <a:lnSpc>
                <a:spcPts val="368"/>
              </a:lnSpc>
            </a:pPr>
          </a:p>
          <a:p>
            <a:pPr algn="r">
              <a:lnSpc>
                <a:spcPts val="1379"/>
              </a:lnSpc>
            </a:pPr>
            <a:r>
              <a:rPr lang="en-US" sz="1499" spc="-74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140810220003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06477" y="8905875"/>
            <a:ext cx="12554136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AC. </a:t>
            </a:r>
            <a:r>
              <a:rPr lang="en-US" sz="1500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(2019)</a:t>
            </a: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r>
              <a:rPr lang="en-US" sz="1500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500" i="true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https://medium.com/data-folks-indonesia/pemahaman-dasar-convolutional-neural-networks-bfa1bf0b06e1.</a:t>
            </a:r>
          </a:p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Universitas Telkom Purwokerto. </a:t>
            </a:r>
            <a:r>
              <a:rPr lang="en-US" sz="1500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(2025)</a:t>
            </a: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r>
              <a:rPr lang="en-US" sz="1500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500" i="true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https://bif-pwt.telkomuniversity.ac.id/mengenal-cnn-dasar-dasar-dan-poin-penting-yang-wajib-dipahami/.</a:t>
            </a:r>
          </a:p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Pamungkas, A. </a:t>
            </a:r>
            <a:r>
              <a:rPr lang="en-US" sz="1500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(2024)</a:t>
            </a: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r>
              <a:rPr lang="en-US" b="true" sz="1500" i="true">
                <a:solidFill>
                  <a:srgbClr val="292B2D"/>
                </a:solidFill>
                <a:latin typeface="Aileron Bold Italics"/>
                <a:ea typeface="Aileron Bold Italics"/>
                <a:cs typeface="Aileron Bold Italics"/>
                <a:sym typeface="Aileron Bold Italics"/>
              </a:rPr>
              <a:t> </a:t>
            </a:r>
            <a:r>
              <a:rPr lang="en-US" sz="1500" i="true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https://pemrogramanmatlab.com/2024/03/01/arsitektur-convolutional-neural-network-cnn-untuk-pengolahan-citra-digital/.</a:t>
            </a:r>
          </a:p>
          <a:p>
            <a:pPr algn="r">
              <a:lnSpc>
                <a:spcPts val="2100"/>
              </a:lnSpc>
            </a:pP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Lina, Q. </a:t>
            </a:r>
            <a:r>
              <a:rPr lang="en-US" sz="1500" b="true">
                <a:solidFill>
                  <a:srgbClr val="D92B1A"/>
                </a:solidFill>
                <a:latin typeface="Aileron Bold"/>
                <a:ea typeface="Aileron Bold"/>
                <a:cs typeface="Aileron Bold"/>
                <a:sym typeface="Aileron Bold"/>
              </a:rPr>
              <a:t>(2019)</a:t>
            </a:r>
            <a:r>
              <a:rPr lang="en-US" sz="1500" b="true">
                <a:solidFill>
                  <a:srgbClr val="292B2D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r>
              <a:rPr lang="en-US" sz="1500">
                <a:solidFill>
                  <a:srgbClr val="292B2D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1500" i="true">
                <a:solidFill>
                  <a:srgbClr val="292B2D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https://medium.com/@16611110/apa-itu-convolutional-neural-network-836f70b193a4.</a:t>
            </a:r>
          </a:p>
        </p:txBody>
      </p: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DAG2sb4Lj8M</dc:identifier>
  <dcterms:modified xsi:type="dcterms:W3CDTF">2011-08-01T06:04:30Z</dcterms:modified>
  <cp:revision>1</cp:revision>
  <dc:title>Convolutional Neural Network</dc:title>
</cp:coreProperties>
</file>